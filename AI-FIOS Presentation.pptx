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914400" cy="54864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572000"/>
            <a:ext cx="731520" cy="82296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94960"/>
            <a:ext cx="1097280" cy="64008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206240"/>
            <a:ext cx="1280160" cy="182880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4206240"/>
            <a:ext cx="2194560" cy="173736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5943600"/>
            <a:ext cx="2468880" cy="18288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4754880"/>
            <a:ext cx="2743200" cy="1371600"/>
          </a:xfrm>
          <a:prstGeom prst="line">
            <a:avLst/>
          </a:prstGeom>
          <a:noFill/>
          <a:ln w="12700">
            <a:solidFill>
              <a:srgbClr val="2B3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60636" y="508863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75036" y="453999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1" name="Shape 9"/>
          <p:cNvSpPr/>
          <p:nvPr/>
        </p:nvSpPr>
        <p:spPr>
          <a:xfrm>
            <a:off x="11306556" y="536295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09276" y="600303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9436" y="417423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4876" y="591159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63756" y="609447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0556" y="4722876"/>
            <a:ext cx="64008" cy="64008"/>
          </a:xfrm>
          <a:prstGeom prst="ellipse">
            <a:avLst/>
          </a:prstGeom>
          <a:solidFill>
            <a:srgbClr val="3A4E7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AI &amp; DATA SCIENCE ENGINEERING PROJECT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141732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AI-FIOS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Financial Intelligence Operating System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 multi-agent platform for real-time market research, geopolitical analysis, and explainable AI predictions.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0" descr="/home/claude/aifio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566160" y="41605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1" descr="/home/claude/aifios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325112"/>
            <a:ext cx="356616" cy="35661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309360" y="41605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2" descr="/home/claude/aifios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325112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74320" y="49560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017520" y="49560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Intelligence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760720" y="49560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financial intelligence — open, autonomous, and explainable.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 in Modern Finance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investment decision can require simultaneously understanding financial statements, live prices, technical indicators, geopolitical conflicts, central bank policy, macro indicators, news, sentiment, historical reactions, and research.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display these datasets separately, leaving analysts to connect the dots by hand — and general-purpose LLMs often generate opinions without continuous, real-time, evidence-backed reasoning.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AI-FIOS exists to close that gap.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1988" y="1618488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8" name="Image 0" descr="/home/claude/aifios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4883" y="1741383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81344" y="2258568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&amp; Stocks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0" y="141732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2228" y="1618488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2" name="Image 1" descr="/home/claude/aifios/icons/news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123" y="174138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1584" y="2258568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Flow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966960" y="141732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602468" y="1618488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363" y="174138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21824" y="2258568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3081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1988" y="3282696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0" name="Image 3" descr="/home/claude/aifios/icons/land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883" y="3405591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1344" y="392277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Central Banks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046720" y="3081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2228" y="3282696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4" name="Image 4" descr="/home/claude/aifios/icons/file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123" y="3405591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01584" y="392277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&amp; Reports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9966960" y="3081528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602468" y="3282696"/>
            <a:ext cx="512064" cy="512064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8" name="Image 5" descr="/home/claude/aifios/icons/commentdo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363" y="3405591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21824" y="392277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Social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4709160"/>
          </a:xfrm>
          <a:prstGeom prst="roundRect">
            <a:avLst>
              <a:gd name="adj" fmla="val 2198"/>
            </a:avLst>
          </a:prstGeom>
          <a:solidFill>
            <a:srgbClr val="0E1E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520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the world’s first open, AI-native Financial Intelligence Operating System — combining real-time market data, specialized financial AI models, multi-agent reasoning, causal analysis, and explainable predictions into a single intelligent research platform.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0" y="1444752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8" name="Image 0" descr="/home/claude/aifios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372" y="1536924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6128" y="136245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Collection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596128" y="16642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and economic information, always 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2203704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2" name="Image 1" descr="/home/claude/aifios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372" y="2295876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21214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Knowledge Base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96128" y="2423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datasets integrated into one coherent system.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0" y="2962656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372" y="3054828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96128" y="2880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Domain Agents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596128" y="31821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agents for each financial discipline.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0" y="3721608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0" name="Image 3" descr="/home/claude/aifios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372" y="3813780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96128" y="36393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596128" y="39410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analysis instead of simple text generation.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29200" y="4480560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4" name="Image 4" descr="/home/claude/aifios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372" y="4572732"/>
            <a:ext cx="199705" cy="19970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96128" y="43982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Impact Modeling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5596128" y="470001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the economic consequences of world events.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0" y="5239512"/>
            <a:ext cx="384048" cy="38404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8" name="Image 5" descr="/home/claude/aifios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372" y="5331684"/>
            <a:ext cx="199705" cy="19970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96128" y="515721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Support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5596128" y="5458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investors, researchers, students, and analysts alike.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Intelligence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AI-FIOS does not just answer questions — it runs a complete reasoning pipeline, start to finish.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2549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73352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282549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0792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0644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82549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8388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80960" y="282549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5672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56132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6132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0" y="282549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835640" y="2715768"/>
            <a:ext cx="9144" cy="144475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" y="41605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48371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73352" y="4242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429000" y="41605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926080" y="48371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50792" y="4242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06440" y="41605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580644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03520" y="48371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28232" y="4242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183880" y="41605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680960" y="48371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05672" y="4242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561320" y="41605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1056132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058400" y="48371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Eight-Layer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168688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4308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Acquisition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feeds from markets, macro data, and geopolitical sources.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8708" y="137160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9876" y="157276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2" name="Image 1" descr="/home/claude/aifios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993" y="1686885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9876" y="219456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79876" y="278892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normalizes, and structures incoming data streams.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08776" y="137160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9944" y="157276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8" name="Image 2" descr="/home/claude/aifios/icons/project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061" y="1686885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24444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9944" y="219456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Vector DB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9944" y="278892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entities and enables semantic retrieval.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38844" y="137160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40012" y="157276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4" name="Image 3" descr="/home/claude/aifio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129" y="1686885"/>
            <a:ext cx="247254" cy="24725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54512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40012" y="219456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 Layer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240012" y="278892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reason over the unified data.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93192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30" name="Image 4" descr="/home/claude/aifios/icons/commentdo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25" y="4247205"/>
            <a:ext cx="247254" cy="24725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464308" y="4133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49808" y="475488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Debate Engine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49808" y="534924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cross-check and challenge each other’s findings.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378708" y="393192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79876" y="413308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36" name="Image 5" descr="/home/claude/aifios/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993" y="4247205"/>
            <a:ext cx="247254" cy="24725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94376" y="4133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579876" y="475488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3579876" y="534924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evidence-backed market forecasts.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208776" y="393192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09944" y="413308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42" name="Image 6" descr="/home/claude/aifios/icons/desk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061" y="4247205"/>
            <a:ext cx="247254" cy="24725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124444" y="4133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409944" y="475488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Dashboard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409944" y="534924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charts, graphs, and knowledge maps.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9038844" y="3931920"/>
            <a:ext cx="26014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240012" y="4133088"/>
            <a:ext cx="475488" cy="475488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48" name="Image 7" descr="/home/claude/aifios/icons/termin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129" y="4247205"/>
            <a:ext cx="247254" cy="24725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954512" y="4133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9240012" y="4754880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Financial Terminal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9240012" y="5349240"/>
            <a:ext cx="21991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analyst-facing research workspace.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of Specialized AI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0867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81912"/>
            <a:ext cx="4311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Technical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7685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Agent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1636" y="1325880"/>
            <a:ext cx="540867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0236" y="1554480"/>
            <a:ext cx="457200" cy="45720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1" name="Image 1" descr="/home/claude/aifios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0316" y="1581912"/>
            <a:ext cx="4311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Geopolitical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97396" y="2148840"/>
            <a:ext cx="47685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Intelligence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Agent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40867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news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30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4311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Intelligence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114800"/>
            <a:ext cx="47685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Analysis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Verification Agent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1636" y="3291840"/>
            <a:ext cx="540867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0236" y="3520440"/>
            <a:ext cx="457200" cy="45720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1" name="Image 3" descr="/home/claude/aifios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36301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00316" y="3547872"/>
            <a:ext cx="4311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Research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97396" y="4114800"/>
            <a:ext cx="47685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Agent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EFC9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440680"/>
            <a:ext cx="502920" cy="50292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6" name="Image 4" descr="/home/claude/aifios/icons/gav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56138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394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Agent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611880" y="5394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every agent’s independent analysis into one final, evidence-backed recommendation.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Specialized Financial Models Meet General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8596" y="1691640"/>
            <a:ext cx="585216" cy="585216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048" y="1832092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23160"/>
            <a:ext cx="31793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Language Models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272216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FinGPT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InvestLM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FinMA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Fin-R1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4800600"/>
            <a:ext cx="2996489" cy="914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37760"/>
            <a:ext cx="299648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earnings reports, filings, and market commentary for domain-specific reasoning.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2369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2325" y="1691640"/>
            <a:ext cx="585216" cy="585216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3" name="Image 1" descr="/home/claude/aifios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777" y="183209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5249" y="2423160"/>
            <a:ext cx="31793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Reasoning Models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33849" y="3108960"/>
            <a:ext cx="272216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3.x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96689" y="4800600"/>
            <a:ext cx="2996489" cy="914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6689" y="4937760"/>
            <a:ext cx="299648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planning, summarization, and multi-agent orchestration.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96098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76054" y="1691640"/>
            <a:ext cx="585216" cy="585216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0" name="Image 2" descr="/home/claude/aifios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506" y="1832092"/>
            <a:ext cx="304312" cy="304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8978" y="2423160"/>
            <a:ext cx="31793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Reranking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7578" y="3108960"/>
            <a:ext cx="272216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Embeddings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Reranker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Reranker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370418" y="4800600"/>
            <a:ext cx="2996489" cy="914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70418" y="4937760"/>
            <a:ext cx="299648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semantic retrieval and evidence relevance ranking.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0E1E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ifios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685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 CSS · TradingView Charts · WebSockets · Framer Motion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37160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0E1E40"/>
          </a:solidFill>
          <a:ln/>
        </p:spPr>
      </p:sp>
      <p:sp>
        <p:nvSpPr>
          <p:cNvPr id="10" name="Shape 7"/>
          <p:cNvSpPr/>
          <p:nvPr/>
        </p:nvSpPr>
        <p:spPr>
          <a:xfrm>
            <a:off x="6505956" y="16459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home/claude/aifio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30" y="17775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7476" y="1691640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51676" y="2331720"/>
            <a:ext cx="47685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LangGraph · Python · Redis · PostgreSQL · TimescaleDB · Docker · Celery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354512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046884" y="3867912"/>
            <a:ext cx="548640" cy="54864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558" y="399958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4572000"/>
            <a:ext cx="31793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31520" y="4937760"/>
            <a:ext cx="31793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or ChromaDB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22369" y="3611880"/>
            <a:ext cx="354512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20613" y="3867912"/>
            <a:ext cx="548640" cy="54864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1" name="Image 3" descr="/home/claude/aifios/icons/project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287" y="39995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05249" y="4572000"/>
            <a:ext cx="31793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05249" y="4937760"/>
            <a:ext cx="31793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096098" y="3611880"/>
            <a:ext cx="354512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594342" y="3867912"/>
            <a:ext cx="548640" cy="54864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6" name="Image 4" descr="/home/claude/aifios/icons/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016" y="399958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78978" y="4572000"/>
            <a:ext cx="31793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278978" y="4937760"/>
            <a:ext cx="31793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vLLM · Hugging Face Transformers · Sentence Transformers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Causal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Financial Intelligence Engine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tracks Indian &amp; US stocks, ETFs, commodities, cryptocurrencies, forex, and bonds — storing every signal as time-series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1144829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429000"/>
            <a:ext cx="1144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4949" y="3429000"/>
            <a:ext cx="769925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2104949" y="3429000"/>
            <a:ext cx="7699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12034" y="342900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3012034" y="342900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19042" y="342900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4219042" y="3429000"/>
            <a:ext cx="1294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Interest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886200"/>
            <a:ext cx="196961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886200"/>
            <a:ext cx="1969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Activity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29738" y="3886200"/>
            <a:ext cx="1369771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2929738" y="3886200"/>
            <a:ext cx="13697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Breadth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434340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343400"/>
            <a:ext cx="1294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Chain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54910" y="4343400"/>
            <a:ext cx="1594714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4" name="Text 21"/>
          <p:cNvSpPr/>
          <p:nvPr/>
        </p:nvSpPr>
        <p:spPr>
          <a:xfrm>
            <a:off x="2254910" y="4343400"/>
            <a:ext cx="1594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72200" y="1371600"/>
            <a:ext cx="5468112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7" name="Image 1" descr="/home/claude/aifios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777594"/>
            <a:ext cx="285293" cy="28529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78040" y="1664208"/>
            <a:ext cx="4187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Geopolitical Intelligence Engine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6446520" y="2423160"/>
            <a:ext cx="4919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wars, elections, trade policy, sanctions, central bank decisions, energy disruptions, and natural disasters — then estimates their economic consequences.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46520" y="3703320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CAUSAL CHAIN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46520" y="4069080"/>
            <a:ext cx="749808" cy="548640"/>
          </a:xfrm>
          <a:prstGeom prst="roundRect">
            <a:avLst>
              <a:gd name="adj" fmla="val 11667"/>
            </a:avLst>
          </a:prstGeom>
          <a:solidFill>
            <a:srgbClr val="0E1E40"/>
          </a:solidFill>
          <a:ln/>
        </p:spPr>
      </p:sp>
      <p:sp>
        <p:nvSpPr>
          <p:cNvPr id="32" name="Text 28"/>
          <p:cNvSpPr/>
          <p:nvPr/>
        </p:nvSpPr>
        <p:spPr>
          <a:xfrm>
            <a:off x="6446520" y="406908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196328" y="417880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7488936" y="4069080"/>
            <a:ext cx="749808" cy="548640"/>
          </a:xfrm>
          <a:prstGeom prst="roundRect">
            <a:avLst>
              <a:gd name="adj" fmla="val 11667"/>
            </a:avLst>
          </a:prstGeom>
          <a:solidFill>
            <a:srgbClr val="0E1E40"/>
          </a:solidFill>
          <a:ln/>
        </p:spPr>
      </p:sp>
      <p:sp>
        <p:nvSpPr>
          <p:cNvPr id="35" name="Text 31"/>
          <p:cNvSpPr/>
          <p:nvPr/>
        </p:nvSpPr>
        <p:spPr>
          <a:xfrm>
            <a:off x="7488936" y="406908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Prices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8238744" y="417880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8531352" y="4069080"/>
            <a:ext cx="749808" cy="548640"/>
          </a:xfrm>
          <a:prstGeom prst="roundRect">
            <a:avLst>
              <a:gd name="adj" fmla="val 11667"/>
            </a:avLst>
          </a:prstGeom>
          <a:solidFill>
            <a:srgbClr val="0E1E40"/>
          </a:solidFill>
          <a:ln/>
        </p:spPr>
      </p:sp>
      <p:sp>
        <p:nvSpPr>
          <p:cNvPr id="38" name="Text 34"/>
          <p:cNvSpPr/>
          <p:nvPr/>
        </p:nvSpPr>
        <p:spPr>
          <a:xfrm>
            <a:off x="8531352" y="406908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Costs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9281160" y="417880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9573768" y="4069080"/>
            <a:ext cx="749808" cy="548640"/>
          </a:xfrm>
          <a:prstGeom prst="roundRect">
            <a:avLst>
              <a:gd name="adj" fmla="val 11667"/>
            </a:avLst>
          </a:prstGeom>
          <a:solidFill>
            <a:srgbClr val="0E1E40"/>
          </a:solidFill>
          <a:ln/>
        </p:spPr>
      </p:sp>
      <p:sp>
        <p:nvSpPr>
          <p:cNvPr id="41" name="Text 37"/>
          <p:cNvSpPr/>
          <p:nvPr/>
        </p:nvSpPr>
        <p:spPr>
          <a:xfrm>
            <a:off x="9573768" y="406908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0323576" y="417880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10616184" y="4069080"/>
            <a:ext cx="749808" cy="548640"/>
          </a:xfrm>
          <a:prstGeom prst="roundRect">
            <a:avLst>
              <a:gd name="adj" fmla="val 11667"/>
            </a:avLst>
          </a:prstGeom>
          <a:solidFill>
            <a:srgbClr val="0E1E40"/>
          </a:solidFill>
          <a:ln/>
        </p:spPr>
      </p:sp>
      <p:sp>
        <p:nvSpPr>
          <p:cNvPr id="44" name="Text 40"/>
          <p:cNvSpPr/>
          <p:nvPr/>
        </p:nvSpPr>
        <p:spPr>
          <a:xfrm>
            <a:off x="10616184" y="406908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446520" y="489204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produces causal explanations — not isolated headlines.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That Show Their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08676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727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Prediction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67712"/>
            <a:ext cx="48600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includes expected movement, confidence score, supporting &amp; contradicting evidence, historical similarities, and data sources. Not “Buy” — why.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1636" y="1371600"/>
            <a:ext cx="5408676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0236" y="1600200"/>
            <a:ext cx="502920" cy="50292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1" name="Image 1" descr="/home/claude/aifios/icons/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37" y="17209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0316" y="15727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Trust Engine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05956" y="2267712"/>
            <a:ext cx="48600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output on agent agreement, evidence quality, source reliability, data freshness, and historical accuracy — and admits uncertainty when evidence is thin.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08676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9592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Analog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90872"/>
            <a:ext cx="48600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current conditions against the COVID crash, the 2008 crisis, the Ukraine war, the dot-com bubble, oil shocks, and the Asian financial crisis.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31636" y="3794760"/>
            <a:ext cx="5408676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0236" y="4023360"/>
            <a:ext cx="502920" cy="502920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21" name="Image 3" descr="/home/claude/aifios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37" y="414406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00316" y="399592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05956" y="4690872"/>
            <a:ext cx="48600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“what-if” questions — Fed rate hikes, $120 oil, a recession — estimating impact on GDP, inflation, rates, and markets.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Investor-Facing Intelligence, Around the Clock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0308" y="1737360"/>
            <a:ext cx="621792" cy="621792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6" name="Image 0" descr="/home/claude/aifios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538" y="188659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8792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Intelligence Engine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9648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uploaded portfolios for risk exposure, sector concentration, geographic dependence, and currency risk — then surfaces hedging and diversification opportunities.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369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4037" y="1737360"/>
            <a:ext cx="621792" cy="621792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1" name="Image 1" descr="/home/claude/aifios/icons/comment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267" y="1886590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969" y="2560320"/>
            <a:ext cx="308792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Sentiment Intelligence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6689" y="3383280"/>
            <a:ext cx="299648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news, Reddit, X, earnings-call transcripts, blogs, and research — classifying mood across bullish, bearish, fear, greed, uncertainty, panic, and optimism.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6098" y="1417320"/>
            <a:ext cx="3545129" cy="44348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57766" y="1737360"/>
            <a:ext cx="621792" cy="621792"/>
          </a:xfrm>
          <a:prstGeom prst="ellipse">
            <a:avLst/>
          </a:prstGeom>
          <a:solidFill>
            <a:srgbClr val="0E1E40"/>
          </a:solidFill>
          <a:ln/>
        </p:spPr>
      </p:sp>
      <p:pic>
        <p:nvPicPr>
          <p:cNvPr id="16" name="Image 2" descr="/home/claude/aifios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996" y="188659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4698" y="2560320"/>
            <a:ext cx="308792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Research Agent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0418" y="3383280"/>
            <a:ext cx="299648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analyzes papers, filings, earnings, economic releases, and analyst reports to generate daily institutional-style research — without being asked.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96689" y="4937760"/>
            <a:ext cx="735178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4596689" y="4937760"/>
            <a:ext cx="7351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405018" y="4937760"/>
            <a:ext cx="735178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2" name="Text 17"/>
          <p:cNvSpPr/>
          <p:nvPr/>
        </p:nvSpPr>
        <p:spPr>
          <a:xfrm>
            <a:off x="5405018" y="4937760"/>
            <a:ext cx="7351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213348" y="4937760"/>
            <a:ext cx="537667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4" name="Text 19"/>
          <p:cNvSpPr/>
          <p:nvPr/>
        </p:nvSpPr>
        <p:spPr>
          <a:xfrm>
            <a:off x="6213348" y="4937760"/>
            <a:ext cx="5376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824167" y="4937760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1"/>
          <p:cNvSpPr/>
          <p:nvPr/>
        </p:nvSpPr>
        <p:spPr>
          <a:xfrm>
            <a:off x="6824167" y="493776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596689" y="5303520"/>
            <a:ext cx="998525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3"/>
          <p:cNvSpPr/>
          <p:nvPr/>
        </p:nvSpPr>
        <p:spPr>
          <a:xfrm>
            <a:off x="4596689" y="5303520"/>
            <a:ext cx="9985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668366" y="5303520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0" name="Text 25"/>
          <p:cNvSpPr/>
          <p:nvPr/>
        </p:nvSpPr>
        <p:spPr>
          <a:xfrm>
            <a:off x="5668366" y="530352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6345022" y="5303520"/>
            <a:ext cx="801014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2" name="Text 27"/>
          <p:cNvSpPr/>
          <p:nvPr/>
        </p:nvSpPr>
        <p:spPr>
          <a:xfrm>
            <a:off x="6345022" y="5303520"/>
            <a:ext cx="801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 &amp;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Financial Dashboards to Autonomous Financial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aifios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64226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financial reasoning framework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/home/claude/aifios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2264054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305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financial artificial intelligence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2" descr="/home/claude/aifio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885846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523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knowledge graph construction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41985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3" descr="/home/claude/aifios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3507638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741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event-to-market impact modeling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04164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4" descr="/home/claude/aifios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4129430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9959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AI decision-making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5" descr="/home/claude/aifios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4751222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617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reasoning: financial foundation models (Kronos) + general LLMs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APPLICATIONS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0" y="1874520"/>
            <a:ext cx="1894637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400800" y="1874520"/>
            <a:ext cx="189463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423453" y="1874520"/>
            <a:ext cx="1975104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423453" y="1874520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0" y="2651760"/>
            <a:ext cx="1894637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400800" y="2651760"/>
            <a:ext cx="189463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Education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8423453" y="2651760"/>
            <a:ext cx="1572768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423453" y="26517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Analysis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00800" y="3429000"/>
            <a:ext cx="1572768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400800" y="342900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101584" y="3429000"/>
            <a:ext cx="1653235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8101584" y="3429000"/>
            <a:ext cx="16532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Research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0" y="4206240"/>
            <a:ext cx="1894637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400800" y="4206240"/>
            <a:ext cx="189463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Surveillance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8423453" y="4206240"/>
            <a:ext cx="1814170" cy="438912"/>
          </a:xfrm>
          <a:prstGeom prst="roundRect">
            <a:avLst>
              <a:gd name="adj" fmla="val 50000"/>
            </a:avLst>
          </a:prstGeom>
          <a:solidFill>
            <a:srgbClr val="16294F"/>
          </a:solidFill>
          <a:ln w="12700">
            <a:solidFill>
              <a:srgbClr val="32436E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423453" y="4206240"/>
            <a:ext cx="18141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Strategy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548640" y="55778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6294F"/>
          </a:solidFill>
          <a:ln/>
        </p:spPr>
      </p:sp>
      <p:sp>
        <p:nvSpPr>
          <p:cNvPr id="40" name="Shape 32"/>
          <p:cNvSpPr/>
          <p:nvPr/>
        </p:nvSpPr>
        <p:spPr>
          <a:xfrm>
            <a:off x="777240" y="57424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1" name="Image 6" descr="/home/claude/aifios/icons/ro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4" y="5874106"/>
            <a:ext cx="285293" cy="28529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508760" y="56509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final-year project: a path toward a publishable research platform and an open-source financial intelligence framework.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1508760" y="6035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next: options-strategy AI · autonomous trading simulation · GNNs on the knowledge graph · mobile app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2026-07-23T18:20:49Z</dcterms:created>
  <dcterms:modified xsi:type="dcterms:W3CDTF">2026-07-23T18:20:49Z</dcterms:modified>
</cp:coreProperties>
</file>